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27940"/>
          </a:xfrm>
          <a:prstGeom prst="rect">
            <a:avLst/>
          </a:prstGeom>
          <a:solidFill>
            <a:srgbClr val="B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ircl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86868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880360"/>
            <a:ext cx="107259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spc="150">
                <a:solidFill>
                  <a:srgbClr val="FFFFFF"/>
                </a:solidFill>
                <a:latin typeface="Josefin Sans"/>
              </a:rPr>
              <a:t>OAKLAND MOTOR CARE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725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 spc="100">
                <a:solidFill>
                  <a:srgbClr val="E9CFA0"/>
                </a:solidFill>
                <a:latin typeface="Josefin Sans"/>
              </a:rPr>
              <a:t>Workshop Operations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3248" y="4224528"/>
            <a:ext cx="1371600" cy="27940"/>
          </a:xfrm>
          <a:prstGeom prst="rect">
            <a:avLst/>
          </a:prstGeom>
          <a:solidFill>
            <a:srgbClr val="B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725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 spc="320">
                <a:solidFill>
                  <a:srgbClr val="9AACBE"/>
                </a:solidFill>
                <a:latin typeface="Josefin Sans"/>
              </a:rPr>
              <a:t>Feature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44768"/>
            <a:ext cx="10725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 spc="100">
                <a:solidFill>
                  <a:srgbClr val="8B9DAF"/>
                </a:solidFill>
                <a:latin typeface="Josefin Sans"/>
              </a:rPr>
              <a:t>Created and Powered by Qeem Labs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20">
                <a:solidFill>
                  <a:srgbClr val="B98A3D"/>
                </a:solidFill>
                <a:latin typeface="Josefin San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263F"/>
                </a:solidFill>
                <a:latin typeface="Josefin Sans"/>
              </a:rPr>
              <a:t>One System, the Whole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18093"/>
                </a:solidFill>
                <a:latin typeface="Josefin Sans"/>
              </a:rPr>
              <a:t>Oakland Motor Care Ltd runs customers, vehicles, jobs, inventory, sales, scrap and finance from a single, real-time dashboard.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502920" cy="38100"/>
          </a:xfrm>
          <a:prstGeom prst="rect">
            <a:avLst/>
          </a:prstGeom>
          <a:solidFill>
            <a:srgbClr val="B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350" b="1">
                <a:solidFill>
                  <a:srgbClr val="172536"/>
                </a:solidFill>
                <a:latin typeface="Josefin Sans"/>
              </a:rPr>
              <a:t>Built for the front desk to the workshop floor.</a:t>
            </a:r>
            <a:r>
              <a:rPr sz="1350" b="0">
                <a:solidFill>
                  <a:srgbClr val="718093"/>
                </a:solidFill>
                <a:latin typeface="Josefin Sans"/>
              </a:rPr>
              <a:t>  Every role — service advisor, technician, storekeeper, manager, admin — works from the same live data.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350" b="1">
                <a:solidFill>
                  <a:srgbClr val="172536"/>
                </a:solidFill>
                <a:latin typeface="Josefin Sans"/>
              </a:rPr>
              <a:t>Nothing is typed twice.</a:t>
            </a:r>
            <a:r>
              <a:rPr sz="1350" b="0">
                <a:solidFill>
                  <a:srgbClr val="718093"/>
                </a:solidFill>
                <a:latin typeface="Josefin Sans"/>
              </a:rPr>
              <a:t>  A job card feeds its own quotation, invoice, parts issue and stock movement automatically.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350" b="1">
                <a:solidFill>
                  <a:srgbClr val="172536"/>
                </a:solidFill>
                <a:latin typeface="Josefin Sans"/>
              </a:rPr>
              <a:t>Money is always accounted for.</a:t>
            </a:r>
            <a:r>
              <a:rPr sz="1350" b="0">
                <a:solidFill>
                  <a:srgbClr val="718093"/>
                </a:solidFill>
                <a:latin typeface="Josefin Sans"/>
              </a:rPr>
              <a:t>  Deposits, part-payments and full settlements are tracked down to the shilling, on every job, sale and scrap transaction.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350" b="1">
                <a:solidFill>
                  <a:srgbClr val="172536"/>
                </a:solidFill>
                <a:latin typeface="Josefin Sans"/>
              </a:rPr>
              <a:t>Installable as an app.</a:t>
            </a:r>
            <a:r>
              <a:rPr sz="1350" b="0">
                <a:solidFill>
                  <a:srgbClr val="718093"/>
                </a:solidFill>
                <a:latin typeface="Josefin Sans"/>
              </a:rPr>
              <a:t>  Works as a Progressive Web App on desktop and mobile — add it to a home screen like a native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8" y="2075688"/>
            <a:ext cx="5632704" cy="35753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148840"/>
            <a:ext cx="5486400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57424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718093"/>
                </a:solidFill>
                <a:latin typeface="Josefin Sans"/>
              </a:rPr>
              <a:t>The live Dashboard — today's numbers,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120">
                <a:solidFill>
                  <a:srgbClr val="718093"/>
                </a:solidFill>
                <a:latin typeface="Josefin Sans"/>
              </a:rPr>
              <a:t>OAKLAND MOTOR CARE LTD  • 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718093"/>
                </a:solidFill>
                <a:latin typeface="Josefi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20">
                <a:solidFill>
                  <a:srgbClr val="B98A3D"/>
                </a:solidFill>
                <a:latin typeface="Josefin San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263F"/>
                </a:solidFill>
                <a:latin typeface="Josefin Sans"/>
              </a:rPr>
              <a:t>A Dashboard That Actually Tells You Something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18093"/>
                </a:solidFill>
                <a:latin typeface="Josefin Sans"/>
              </a:rPr>
              <a:t>Revenue, active jobs, low stock and outstanding balances — the moment you log 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502920" cy="38100"/>
          </a:xfrm>
          <a:prstGeom prst="rect">
            <a:avLst/>
          </a:prstGeom>
          <a:solidFill>
            <a:srgbClr val="B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" y="1801367"/>
            <a:ext cx="7050024" cy="44622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6903720" cy="4315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18120" y="1965960"/>
            <a:ext cx="38404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1">
                <a:solidFill>
                  <a:srgbClr val="172536"/>
                </a:solidFill>
                <a:latin typeface="Josefin Sans"/>
              </a:rPr>
              <a:t>Live KPI cards</a:t>
            </a:r>
            <a:r>
              <a:rPr sz="1250" b="0">
                <a:solidFill>
                  <a:srgbClr val="718093"/>
                </a:solidFill>
                <a:latin typeface="Josefin Sans"/>
              </a:rPr>
              <a:t>  today's revenue, active work orders, low stock count, outstanding balance.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1">
                <a:solidFill>
                  <a:srgbClr val="172536"/>
                </a:solidFill>
                <a:latin typeface="Josefin Sans"/>
              </a:rPr>
              <a:t>Recent Work Orders feed</a:t>
            </a:r>
            <a:r>
              <a:rPr sz="1250" b="0">
                <a:solidFill>
                  <a:srgbClr val="718093"/>
                </a:solidFill>
                <a:latin typeface="Josefin Sans"/>
              </a:rPr>
              <a:t>  see the whole shop's status without opening a single job.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1">
                <a:solidFill>
                  <a:srgbClr val="172536"/>
                </a:solidFill>
                <a:latin typeface="Josefin Sans"/>
              </a:rPr>
              <a:t>Needs Attention panel</a:t>
            </a:r>
            <a:r>
              <a:rPr sz="1250" b="0">
                <a:solidFill>
                  <a:srgbClr val="718093"/>
                </a:solidFill>
                <a:latin typeface="Josefin Sans"/>
              </a:rPr>
              <a:t>  low stock, overdue invoices and pending approvals surfaced automatically.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1">
                <a:solidFill>
                  <a:srgbClr val="172536"/>
                </a:solidFill>
                <a:latin typeface="Josefin Sans"/>
              </a:rPr>
              <a:t>One click away</a:t>
            </a:r>
            <a:r>
              <a:rPr sz="1250" b="0">
                <a:solidFill>
                  <a:srgbClr val="718093"/>
                </a:solidFill>
                <a:latin typeface="Josefin Sans"/>
              </a:rPr>
              <a:t>  every card and row is clickable straight through to the record.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120">
                <a:solidFill>
                  <a:srgbClr val="718093"/>
                </a:solidFill>
                <a:latin typeface="Josefin Sans"/>
              </a:rPr>
              <a:t>OAKLAND MOTOR CARE LTD  • 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718093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20">
                <a:solidFill>
                  <a:srgbClr val="B98A3D"/>
                </a:solidFill>
                <a:latin typeface="Josefin Sans"/>
              </a:rPr>
              <a:t>WORKSHOP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263F"/>
                </a:solidFill>
                <a:latin typeface="Josefin Sans"/>
              </a:rPr>
              <a:t>Work Orders, With a Full Debt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18093"/>
                </a:solidFill>
                <a:latin typeface="Josefin Sans"/>
              </a:rPr>
              <a:t>Deposits, part-payments and balances owed — visible on every job card and the list itself, not buried in a separate ledger.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502920" cy="38100"/>
          </a:xfrm>
          <a:prstGeom prst="rect">
            <a:avLst/>
          </a:prstGeom>
          <a:solidFill>
            <a:srgbClr val="B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" y="1801367"/>
            <a:ext cx="7187184" cy="454685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ork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040880" cy="4400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0" y="1965960"/>
            <a:ext cx="36576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00" b="1">
                <a:solidFill>
                  <a:srgbClr val="172536"/>
                </a:solidFill>
                <a:latin typeface="Josefin Sans"/>
              </a:rPr>
              <a:t>Deposits any time.</a:t>
            </a:r>
            <a:r>
              <a:rPr sz="1200" b="0">
                <a:solidFill>
                  <a:srgbClr val="718093"/>
                </a:solidFill>
                <a:latin typeface="Josefin Sans"/>
              </a:rPr>
              <a:t>  record a part-payment the moment a customer pays it — no invoice has to exist first.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00" b="1">
                <a:solidFill>
                  <a:srgbClr val="172536"/>
                </a:solidFill>
                <a:latin typeface="Josefin Sans"/>
              </a:rPr>
              <a:t>Balance Due on every row.</a:t>
            </a:r>
            <a:r>
              <a:rPr sz="1200" b="0">
                <a:solidFill>
                  <a:srgbClr val="718093"/>
                </a:solidFill>
                <a:latin typeface="Josefin Sans"/>
              </a:rPr>
              <a:t>  the Work Orders list shows exactly who owes what, with a one-click debt filter.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00" b="1">
                <a:solidFill>
                  <a:srgbClr val="172536"/>
                </a:solidFill>
                <a:latin typeface="Josefin Sans"/>
              </a:rPr>
              <a:t>Full status pipeline.</a:t>
            </a:r>
            <a:r>
              <a:rPr sz="1200" b="0">
                <a:solidFill>
                  <a:srgbClr val="718093"/>
                </a:solidFill>
                <a:latin typeface="Josefin Sans"/>
              </a:rPr>
              <a:t>  Draft → Open → In Progress → Completed, with technician sign-off at every stage.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00" b="1">
                <a:solidFill>
                  <a:srgbClr val="172536"/>
                </a:solidFill>
                <a:latin typeface="Josefin Sans"/>
              </a:rPr>
              <a:t>Parts, labour &amp; other charges</a:t>
            </a:r>
            <a:r>
              <a:rPr sz="1200" b="0">
                <a:solidFill>
                  <a:srgbClr val="718093"/>
                </a:solidFill>
                <a:latin typeface="Josefin Sans"/>
              </a:rPr>
              <a:t>  combined automatically into one running total per job.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120">
                <a:solidFill>
                  <a:srgbClr val="718093"/>
                </a:solidFill>
                <a:latin typeface="Josefin Sans"/>
              </a:rPr>
              <a:t>OAKLAND MOTOR CARE LTD  •  WORK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718093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20">
                <a:solidFill>
                  <a:srgbClr val="B98A3D"/>
                </a:solidFill>
                <a:latin typeface="Josefin Sans"/>
              </a:rPr>
              <a:t>INVENTORY &amp;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263F"/>
                </a:solidFill>
                <a:latin typeface="Josefin Sans"/>
              </a:rPr>
              <a:t>Low Stock Restocks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18093"/>
                </a:solidFill>
                <a:latin typeface="Josefin Sans"/>
              </a:rPr>
              <a:t>Parts at or below their reorder level are grouped by supplier into a ready-to-send purchase order.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502920" cy="38100"/>
          </a:xfrm>
          <a:prstGeom prst="rect">
            <a:avLst/>
          </a:prstGeom>
          <a:solidFill>
            <a:srgbClr val="B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" y="1801367"/>
            <a:ext cx="7507224" cy="43525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36092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965960"/>
            <a:ext cx="3429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1">
                <a:solidFill>
                  <a:srgbClr val="172536"/>
                </a:solidFill>
                <a:latin typeface="Josefin Sans"/>
              </a:rPr>
              <a:t>Auto-grouped by supplier.</a:t>
            </a:r>
            <a:r>
              <a:rPr sz="1250" b="0">
                <a:solidFill>
                  <a:srgbClr val="718093"/>
                </a:solidFill>
                <a:latin typeface="Josefin Sans"/>
              </a:rPr>
              <a:t>  one purchase order per supplier, generated from live stock levels.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1">
                <a:solidFill>
                  <a:srgbClr val="172536"/>
                </a:solidFill>
                <a:latin typeface="Josefin Sans"/>
              </a:rPr>
              <a:t>Editable before sending.</a:t>
            </a:r>
            <a:r>
              <a:rPr sz="1250" b="0">
                <a:solidFill>
                  <a:srgbClr val="718093"/>
                </a:solidFill>
                <a:latin typeface="Josefin Sans"/>
              </a:rPr>
              <a:t>  adjust quantities and costs, then export a clean PDF.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1">
                <a:solidFill>
                  <a:srgbClr val="172536"/>
                </a:solidFill>
                <a:latin typeface="Josefin Sans"/>
              </a:rPr>
              <a:t>Full parts catalogue.</a:t>
            </a:r>
            <a:r>
              <a:rPr sz="1250" b="0">
                <a:solidFill>
                  <a:srgbClr val="718093"/>
                </a:solidFill>
                <a:latin typeface="Josefin Sans"/>
              </a:rPr>
              <a:t>  SKU, cost vs. selling price, stock on hand, and traceable stock movements.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1">
                <a:solidFill>
                  <a:srgbClr val="172536"/>
                </a:solidFill>
                <a:latin typeface="Josefin Sans"/>
              </a:rPr>
              <a:t>Goods receipt built in.</a:t>
            </a:r>
            <a:r>
              <a:rPr sz="1250" b="0">
                <a:solidFill>
                  <a:srgbClr val="718093"/>
                </a:solidFill>
                <a:latin typeface="Josefin Sans"/>
              </a:rPr>
              <a:t>  receiving stock against a PO updates quantities and cost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120">
                <a:solidFill>
                  <a:srgbClr val="718093"/>
                </a:solidFill>
                <a:latin typeface="Josefin Sans"/>
              </a:rPr>
              <a:t>OAKLAND MOTOR CARE LTD  • 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718093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20">
                <a:solidFill>
                  <a:srgbClr val="B98A3D"/>
                </a:solidFill>
                <a:latin typeface="Josefin Sans"/>
              </a:rPr>
              <a:t>SCRAP YARD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263F"/>
                </a:solidFill>
                <a:latin typeface="Josefin Sans"/>
              </a:rPr>
              <a:t>A Purpose-Built Module of Its 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18093"/>
                </a:solidFill>
                <a:latin typeface="Josefin Sans"/>
              </a:rPr>
              <a:t>Six focused areas that mirror the paper daily-cash book the yard already runs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502920" cy="38100"/>
          </a:xfrm>
          <a:prstGeom prst="rect">
            <a:avLst/>
          </a:prstGeom>
          <a:solidFill>
            <a:srgbClr val="B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" y="1801367"/>
            <a:ext cx="7507224" cy="43525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ap-y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36092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965960"/>
            <a:ext cx="3429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0">
                <a:solidFill>
                  <a:srgbClr val="172536"/>
                </a:solidFill>
                <a:latin typeface="Josefin Sans"/>
              </a:rPr>
              <a:t>Overview, Daily Records, Stock Position, Finances, Reports, Scrap Types &amp; Rates.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0">
                <a:solidFill>
                  <a:srgbClr val="172536"/>
                </a:solidFill>
                <a:latin typeface="Josefin Sans"/>
              </a:rPr>
              <a:t>One dialog records cash, purchases and expenses for the day together.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0">
                <a:solidFill>
                  <a:srgbClr val="172536"/>
                </a:solidFill>
                <a:latin typeface="Josefin Sans"/>
              </a:rPr>
              <a:t>Supplier-price variants (Heavy, Light, ND) roll up into one stock line; batteries stay separate.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0">
                <a:solidFill>
                  <a:srgbClr val="172536"/>
                </a:solidFill>
                <a:latin typeface="Josefin Sans"/>
              </a:rPr>
              <a:t>Reconciliation receipts compare expected vs. counted stock, with a reasoned variance trail.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120">
                <a:solidFill>
                  <a:srgbClr val="718093"/>
                </a:solidFill>
                <a:latin typeface="Josefin Sans"/>
              </a:rPr>
              <a:t>OAKLAND MOTOR CARE LTD  •  SCRAP YARD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718093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20">
                <a:solidFill>
                  <a:srgbClr val="B98A3D"/>
                </a:solidFill>
                <a:latin typeface="Josefin Sans"/>
              </a:rPr>
              <a:t>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263F"/>
                </a:solidFill>
                <a:latin typeface="Josefin Sans"/>
              </a:rPr>
              <a:t>Reports That Cover the Whole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18093"/>
                </a:solidFill>
                <a:latin typeface="Josefin Sans"/>
              </a:rPr>
              <a:t>Sales, financial, inventory, technician and scrap-yard performance — filterable and exportable.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502920" cy="38100"/>
          </a:xfrm>
          <a:prstGeom prst="rect">
            <a:avLst/>
          </a:prstGeom>
          <a:solidFill>
            <a:srgbClr val="B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" y="1801367"/>
            <a:ext cx="7507224" cy="43525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36092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965960"/>
            <a:ext cx="3429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1">
                <a:solidFill>
                  <a:srgbClr val="172536"/>
                </a:solidFill>
                <a:latin typeface="Josefin Sans"/>
              </a:rPr>
              <a:t>Five report types.</a:t>
            </a:r>
            <a:r>
              <a:rPr sz="1250" b="0">
                <a:solidFill>
                  <a:srgbClr val="718093"/>
                </a:solidFill>
                <a:latin typeface="Josefin Sans"/>
              </a:rPr>
              <a:t>  Sales, Financial, Inventory, Technicians, Scrap Yard — one screen, one export.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1">
                <a:solidFill>
                  <a:srgbClr val="172536"/>
                </a:solidFill>
                <a:latin typeface="Josefin Sans"/>
              </a:rPr>
              <a:t>Technician drill-down.</a:t>
            </a:r>
            <a:r>
              <a:rPr sz="1250" b="0">
                <a:solidFill>
                  <a:srgbClr val="718093"/>
                </a:solidFill>
                <a:latin typeface="Josefin Sans"/>
              </a:rPr>
              <a:t>  see exactly who generated how much revenue.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1">
                <a:solidFill>
                  <a:srgbClr val="172536"/>
                </a:solidFill>
                <a:latin typeface="Josefin Sans"/>
              </a:rPr>
              <a:t>CSV export everywhere.</a:t>
            </a:r>
            <a:r>
              <a:rPr sz="1250" b="0">
                <a:solidFill>
                  <a:srgbClr val="718093"/>
                </a:solidFill>
                <a:latin typeface="Josefin Sans"/>
              </a:rPr>
              <a:t>  payments, receipts, work orders and reports all export cleanly.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1">
                <a:solidFill>
                  <a:srgbClr val="172536"/>
                </a:solidFill>
                <a:latin typeface="Josefin Sans"/>
              </a:rPr>
              <a:t>Printable documents.</a:t>
            </a:r>
            <a:r>
              <a:rPr sz="1250" b="0">
                <a:solidFill>
                  <a:srgbClr val="718093"/>
                </a:solidFill>
                <a:latin typeface="Josefin Sans"/>
              </a:rPr>
              <a:t>  job cards, invoices, purchase orders and receipts export as PDF or image.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120">
                <a:solidFill>
                  <a:srgbClr val="718093"/>
                </a:solidFill>
                <a:latin typeface="Josefin Sans"/>
              </a:rPr>
              <a:t>OAKLAND MOTOR CARE LTD  • 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718093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20">
                <a:solidFill>
                  <a:srgbClr val="B98A3D"/>
                </a:solidFill>
                <a:latin typeface="Josefin Sans"/>
              </a:rPr>
              <a:t>STAY INFORMED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263F"/>
                </a:solidFill>
                <a:latin typeface="Josefin Sans"/>
              </a:rPr>
              <a:t>Real Alerts, Not a Silent Inbox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18093"/>
                </a:solidFill>
                <a:latin typeface="Josefin Sans"/>
              </a:rPr>
              <a:t>Every meaningful event in the workshop raises a notification — to the people who actually need to see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502920" cy="38100"/>
          </a:xfrm>
          <a:prstGeom prst="rect">
            <a:avLst/>
          </a:prstGeom>
          <a:solidFill>
            <a:srgbClr val="B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" y="1801367"/>
            <a:ext cx="7507224" cy="43525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36092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965960"/>
            <a:ext cx="3429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0">
                <a:solidFill>
                  <a:srgbClr val="172536"/>
                </a:solidFill>
                <a:latin typeface="Josefin Sans"/>
              </a:rPr>
              <a:t>Low stock, quotations and purchase orders awaiting approval, technician assignments, payments received.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0">
                <a:solidFill>
                  <a:srgbClr val="172536"/>
                </a:solidFill>
                <a:latin typeface="Josefin Sans"/>
              </a:rPr>
              <a:t>New work orders, scrap entries and sales notify the right people automatically.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0">
                <a:solidFill>
                  <a:srgbClr val="172536"/>
                </a:solidFill>
                <a:latin typeface="Josefin Sans"/>
              </a:rPr>
              <a:t>Overdue invoices computed live and surfaced right on the notifications page.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50" b="0">
                <a:solidFill>
                  <a:srgbClr val="172536"/>
                </a:solidFill>
                <a:latin typeface="Josefin Sans"/>
              </a:rPr>
              <a:t>An unread count follows you everywhere — sidebar, bell icon and page title.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120">
                <a:solidFill>
                  <a:srgbClr val="718093"/>
                </a:solidFill>
                <a:latin typeface="Josefin Sans"/>
              </a:rPr>
              <a:t>OAKLAND MOTOR CARE LTD  •  NOTIFICATIONS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718093"/>
                </a:solidFill>
                <a:latin typeface="Josefi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20">
                <a:solidFill>
                  <a:srgbClr val="B98A3D"/>
                </a:solidFill>
                <a:latin typeface="Josefin Sans"/>
              </a:rPr>
              <a:t>EVERY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Josefin Sans"/>
              </a:rPr>
              <a:t>The Complete Feature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38100"/>
          </a:xfrm>
          <a:prstGeom prst="rect">
            <a:avLst/>
          </a:prstGeom>
          <a:solidFill>
            <a:srgbClr val="B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11880" cy="2249424"/>
          </a:xfrm>
          <a:prstGeom prst="roundRect">
            <a:avLst>
              <a:gd name="adj" fmla="val 5000"/>
            </a:avLst>
          </a:prstGeom>
          <a:solidFill>
            <a:srgbClr val="173A5E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828800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98A3D"/>
                </a:solidFill>
                <a:latin typeface="Josefin Sans"/>
              </a:rPr>
              <a:t>Customers &amp; Vehicles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267712"/>
            <a:ext cx="3209544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Customer directory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Vehicle records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Vehicle Register (in/out log)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611880" cy="2249424"/>
          </a:xfrm>
          <a:prstGeom prst="roundRect">
            <a:avLst>
              <a:gd name="adj" fmla="val 5000"/>
            </a:avLst>
          </a:prstGeom>
          <a:solidFill>
            <a:srgbClr val="173A5E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98A3D"/>
                </a:solidFill>
                <a:latin typeface="Josefin Sans"/>
              </a:rPr>
              <a:t>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7712"/>
            <a:ext cx="3209544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Work orders &amp; full status pipeline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Debt &amp; deposit pipeline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Technician assignment &amp;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38744" y="1645920"/>
            <a:ext cx="3611880" cy="2249424"/>
          </a:xfrm>
          <a:prstGeom prst="roundRect">
            <a:avLst>
              <a:gd name="adj" fmla="val 5000"/>
            </a:avLst>
          </a:prstGeom>
          <a:solidFill>
            <a:srgbClr val="173A5E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828800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98A3D"/>
                </a:solidFill>
                <a:latin typeface="Josefin Sans"/>
              </a:rPr>
              <a:t>Inventory &amp; Procurement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267712"/>
            <a:ext cx="3209544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Parts catalogue &amp; stock movements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Auto-generated purchase orders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Supplier directory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4800"/>
            <a:ext cx="3611880" cy="2249424"/>
          </a:xfrm>
          <a:prstGeom prst="roundRect">
            <a:avLst>
              <a:gd name="adj" fmla="val 5000"/>
            </a:avLst>
          </a:prstGeom>
          <a:solidFill>
            <a:srgbClr val="173A5E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297680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98A3D"/>
                </a:solidFill>
                <a:latin typeface="Josefin Sans"/>
              </a:rPr>
              <a:t>Sales &amp; 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736592"/>
            <a:ext cx="3209544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Quotations → Invoices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Payments with M-Pesa support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General (ad-hoc) receipts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4114800"/>
            <a:ext cx="3611880" cy="2249424"/>
          </a:xfrm>
          <a:prstGeom prst="roundRect">
            <a:avLst>
              <a:gd name="adj" fmla="val 5000"/>
            </a:avLst>
          </a:prstGeom>
          <a:solidFill>
            <a:srgbClr val="173A5E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297680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98A3D"/>
                </a:solidFill>
                <a:latin typeface="Josefin Sans"/>
              </a:rPr>
              <a:t>Scrap Yard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736592"/>
            <a:ext cx="3209544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6 dedicated modules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Daily cash &amp; purchase entry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Stock reconciliation reports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744" y="4114800"/>
            <a:ext cx="3611880" cy="2249424"/>
          </a:xfrm>
          <a:prstGeom prst="roundRect">
            <a:avLst>
              <a:gd name="adj" fmla="val 5000"/>
            </a:avLst>
          </a:prstGeom>
          <a:solidFill>
            <a:srgbClr val="173A5E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4297680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98A3D"/>
                </a:solidFill>
                <a:latin typeface="Josefin Sans"/>
              </a:rPr>
              <a:t>Operations &amp;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4736592"/>
            <a:ext cx="3209544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Sales module for counter parts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5-category reports &amp; CSV export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6F8FAD"/>
                </a:solidFill>
                <a:latin typeface="Josefin Sans"/>
              </a:rPr>
              <a:t>✦  </a:t>
            </a:r>
            <a:r>
              <a:rPr sz="1100" b="0">
                <a:solidFill>
                  <a:srgbClr val="DCE6F0"/>
                </a:solidFill>
                <a:latin typeface="Josefin Sans"/>
              </a:rPr>
              <a:t>Live notifications &amp; audit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120">
                <a:solidFill>
                  <a:srgbClr val="7D8FA1"/>
                </a:solidFill>
                <a:latin typeface="Josefin Sans"/>
              </a:rPr>
              <a:t>OAKLAND MOTOR CARE LTD  •  FEATURE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7D8FA1"/>
                </a:solidFill>
                <a:latin typeface="Josefi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20">
                <a:solidFill>
                  <a:srgbClr val="B98A3D"/>
                </a:solidFill>
                <a:latin typeface="Josefin Sans"/>
              </a:rPr>
              <a:t>TRUST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263F"/>
                </a:solidFill>
                <a:latin typeface="Josefin Sans"/>
              </a:rPr>
              <a:t>Built on Real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18093"/>
                </a:solidFill>
                <a:latin typeface="Josefin Sans"/>
              </a:rPr>
              <a:t>Every write goes through a permission check — not just a hidden button.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502920" cy="38100"/>
          </a:xfrm>
          <a:prstGeom prst="rect">
            <a:avLst/>
          </a:prstGeom>
          <a:solidFill>
            <a:srgbClr val="B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394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350" b="1">
                <a:solidFill>
                  <a:srgbClr val="172536"/>
                </a:solidFill>
                <a:latin typeface="Josefin Sans"/>
              </a:rPr>
              <a:t>Role-based permissions.</a:t>
            </a:r>
            <a:r>
              <a:rPr sz="1350" b="0">
                <a:solidFill>
                  <a:srgbClr val="718093"/>
                </a:solidFill>
                <a:latin typeface="Josefin Sans"/>
              </a:rPr>
              <a:t>  Administrator and Manager roles, each scoped to exactly what they should see and do.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350" b="1">
                <a:solidFill>
                  <a:srgbClr val="172536"/>
                </a:solidFill>
                <a:latin typeface="Josefin Sans"/>
              </a:rPr>
              <a:t>Row-level security in the database.</a:t>
            </a:r>
            <a:r>
              <a:rPr sz="1350" b="0">
                <a:solidFill>
                  <a:srgbClr val="718093"/>
                </a:solidFill>
                <a:latin typeface="Josefin Sans"/>
              </a:rPr>
              <a:t>  access is enforced at the data layer, not just the screen.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350" b="1">
                <a:solidFill>
                  <a:srgbClr val="172536"/>
                </a:solidFill>
                <a:latin typeface="Josefin Sans"/>
              </a:rPr>
              <a:t>Full audit trail.</a:t>
            </a:r>
            <a:r>
              <a:rPr sz="1350" b="0">
                <a:solidFill>
                  <a:srgbClr val="718093"/>
                </a:solidFill>
                <a:latin typeface="Josefin Sans"/>
              </a:rPr>
              <a:t>  every sensitive change is logged with who, what and when.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350" b="1">
                <a:solidFill>
                  <a:srgbClr val="172536"/>
                </a:solidFill>
                <a:latin typeface="Josefin Sans"/>
              </a:rPr>
              <a:t>Secure account lifecycle.</a:t>
            </a:r>
            <a:r>
              <a:rPr sz="1350" b="0">
                <a:solidFill>
                  <a:srgbClr val="718093"/>
                </a:solidFill>
                <a:latin typeface="Josefin Sans"/>
              </a:rPr>
              <a:t>  invite or create staff accounts, suspend or reactivate access instantly.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350" b="1">
                <a:solidFill>
                  <a:srgbClr val="172536"/>
                </a:solidFill>
                <a:latin typeface="Josefin Sans"/>
              </a:rPr>
              <a:t>Password visibility toggle</a:t>
            </a:r>
            <a:r>
              <a:rPr sz="1350" b="0">
                <a:solidFill>
                  <a:srgbClr val="718093"/>
                </a:solidFill>
                <a:latin typeface="Josefin Sans"/>
              </a:rPr>
              <a:t>  on every sign-in, reset and account-creation field.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257800" cy="4160520"/>
          </a:xfrm>
          <a:prstGeom prst="roundRect">
            <a:avLst>
              <a:gd name="adj" fmla="val 4000"/>
            </a:avLst>
          </a:prstGeom>
          <a:solidFill>
            <a:srgbClr val="FFFAF4"/>
          </a:solidFill>
          <a:ln w="12700">
            <a:solidFill>
              <a:srgbClr val="E9C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2860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B98A3D"/>
                </a:solidFill>
                <a:latin typeface="Josefin Sans"/>
              </a:rPr>
              <a:t>Ongoing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743200"/>
            <a:ext cx="4663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00" b="0">
                <a:solidFill>
                  <a:srgbClr val="172536"/>
                </a:solidFill>
                <a:latin typeface="Josefin Sans"/>
              </a:rPr>
              <a:t>Every access-control policy and privileged function is independently reviewed on a regular basis.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00" b="0">
                <a:solidFill>
                  <a:srgbClr val="172536"/>
                </a:solidFill>
                <a:latin typeface="Josefin Sans"/>
              </a:rPr>
              <a:t>Principle of least privilege enforced throughout — access is granted, never assumed.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00" b="0">
                <a:solidFill>
                  <a:srgbClr val="172536"/>
                </a:solidFill>
                <a:latin typeface="Josefin Sans"/>
              </a:rPr>
              <a:t>Protection lives at the database layer, not just the screen, so it can't be bypassed by going around the UI.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B98A3D"/>
                </a:solidFill>
                <a:latin typeface="Josefin Sans"/>
              </a:rPr>
              <a:t>✦  </a:t>
            </a:r>
            <a:r>
              <a:rPr sz="1200" b="0">
                <a:solidFill>
                  <a:srgbClr val="172536"/>
                </a:solidFill>
                <a:latin typeface="Josefin Sans"/>
              </a:rPr>
              <a:t>New features are checked against the same standard before they 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120">
                <a:solidFill>
                  <a:srgbClr val="718093"/>
                </a:solidFill>
                <a:latin typeface="Josefin Sans"/>
              </a:rPr>
              <a:t>OAKLAND MOTOR CARE LTD  • 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718093"/>
                </a:solidFill>
                <a:latin typeface="Josefi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ircl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100584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0"/>
            <a:ext cx="10725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Josefin Sans"/>
              </a:rPr>
              <a:t>Workshop Operations, Simplified.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3248" y="3429000"/>
            <a:ext cx="1371600" cy="27940"/>
          </a:xfrm>
          <a:prstGeom prst="rect">
            <a:avLst/>
          </a:prstGeom>
          <a:solidFill>
            <a:srgbClr val="B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657600"/>
            <a:ext cx="88971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9CFA0"/>
                </a:solidFill>
                <a:latin typeface="Josefin Sans"/>
              </a:rPr>
              <a:t>From the moment a car rolls in to the moment the balance is settled — one system, one source of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spc="250">
                <a:solidFill>
                  <a:srgbClr val="FFFFFF"/>
                </a:solidFill>
                <a:latin typeface="Josefin Sans"/>
              </a:rPr>
              <a:t>OAKLAND MOTOR CARE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 spc="100">
                <a:solidFill>
                  <a:srgbClr val="8B9DAF"/>
                </a:solidFill>
                <a:latin typeface="Josefin Sans"/>
              </a:rPr>
              <a:t>Created and Powered by Qeem Labs Ltd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